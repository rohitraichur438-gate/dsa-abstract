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bold ns1:id="rIdFont20"/>
      <ns0:regular ns1:id="rIdFont21"/>
    </ns0:embeddedFont>
    <ns0:embeddedFont>
      <ns0:font typeface="JetBrains Mono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a9ad7ce2-b797-4634-814b-6cf2375eda42.fntdata" /><ns0:Relationship Id="rIdFont21" Type="http://schemas.openxmlformats.org/officeDocument/2006/relationships/font" Target="fonts/b432e510-3519-4f05-a6ab-d5cde6b89b50.fntdata" /><ns0:Relationship Id="rIdFont22" Type="http://schemas.openxmlformats.org/officeDocument/2006/relationships/font" Target="fonts/7575a6cb-b083-485e-9d2b-a52a279102d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286375"/>
            <a:ext cx="11125200" cy="1038225"/>
          </a:xfrm>
          <a:prstGeom prst="roundRect">
            <a:avLst>
              <a:gd name="adj" fmla="val 1100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533400"/>
            <a:ext cx="5595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EA5E9"/>
                </a:solidFill>
                <a:latin typeface="Plus Jakarta Sans"/>
              </a:rPr>
              <a:t>DATA STRUCTURES &amp; ALGORITHMS - 3 (25CS2103E)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8450" y="533400"/>
            <a:ext cx="1500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4A3B8"/>
                </a:solidFill>
                <a:latin typeface="Plus Jakarta Sans"/>
              </a:rPr>
              <a:t>A.Y.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2192684"/>
            <a:ext cx="9601200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Resume Job Matching &amp; Talent Marketplace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3484215"/>
            <a:ext cx="7715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lus Jakarta Sans"/>
              </a:rPr>
              <a:t>An Automated Algorithmic Engine for Candidate-Job Alignment &amp; Skills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5514975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INSTITUTION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724525"/>
            <a:ext cx="381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K L (Deemed to be) University, Bachupally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5924550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Dept. of Computer Science &amp;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5512" y="5514975"/>
            <a:ext cx="2047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TEAM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5512" y="5724525"/>
            <a:ext cx="2047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Team ID: DSA3-MP-12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5512" y="5924550"/>
            <a:ext cx="2047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Section: CSE-Alpha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63125" y="5514975"/>
            <a:ext cx="19883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PROJECT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63125" y="5724525"/>
            <a:ext cx="1988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Dr. Guide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63125" y="5924550"/>
            <a:ext cx="19883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Associate Professor,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944100" y="504825"/>
            <a:ext cx="1638300" cy="28575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56532"/>
            <a:ext cx="6075164" cy="3030735"/>
          </a:xfrm>
          <a:prstGeom prst="roundRect">
            <a:avLst>
              <a:gd name="adj" fmla="val 50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27664" y="2119312"/>
            <a:ext cx="4554735" cy="1000125"/>
          </a:xfrm>
          <a:prstGeom prst="roundRect">
            <a:avLst>
              <a:gd name="adj" fmla="val 1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27664" y="3271837"/>
            <a:ext cx="4554735" cy="1000125"/>
          </a:xfrm>
          <a:prstGeom prst="roundRect">
            <a:avLst>
              <a:gd name="adj" fmla="val 1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27664" y="4424362"/>
            <a:ext cx="4554735" cy="1000125"/>
          </a:xfrm>
          <a:prstGeom prst="roundRect">
            <a:avLst>
              <a:gd name="adj" fmla="val 1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4201417"/>
            <a:ext cx="2656582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3382" y="4201417"/>
            <a:ext cx="2656582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264" y="2338387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264" y="3490912"/>
            <a:ext cx="1524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6264" y="4643437"/>
            <a:ext cx="19050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3750468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Executive Abstract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0" y="561975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Plus Jakarta Sans"/>
              </a:rPr>
              <a:t>PROJECT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61332"/>
            <a:ext cx="717355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Core 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13757"/>
            <a:ext cx="5560814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Plus Jakarta Sans"/>
              </a:rPr>
              <a:t>Traditional hiring suffers from slow resume screening, manual skill mismatching, and inefficient candidate ranking. This project introduces an automated matching engine leveraging advanced DSA structures.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6264" y="2309812"/>
            <a:ext cx="4935735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Automated Parsing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6264" y="2566987"/>
            <a:ext cx="419278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Extracts key skills, qualifications, and experience metrics instantly.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6264" y="3462337"/>
            <a:ext cx="4935735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Dynamic Match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6264" y="3719512"/>
            <a:ext cx="419278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Calculates similarity scores using TF-IDF vectorization and hash maps.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6264" y="4614862"/>
            <a:ext cx="4935735" cy="2000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Priority Ranking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6264" y="4872037"/>
            <a:ext cx="419278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Uses Max-Heaps to dynamically rank top candidates for recruiters.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6800" y="4353817"/>
            <a:ext cx="293972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O(1) / O(log 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6800" y="4658617"/>
            <a:ext cx="293972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Fast Keyword &amp; Ranking Lookup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75782" y="4353817"/>
            <a:ext cx="293972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95%+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75782" y="4658617"/>
            <a:ext cx="293972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Automated Filtering Accuracy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76537"/>
            <a:ext cx="3505200" cy="1990725"/>
          </a:xfrm>
          <a:prstGeom prst="roundRect">
            <a:avLst>
              <a:gd name="adj" fmla="val 5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776537"/>
            <a:ext cx="3505200" cy="1990725"/>
          </a:xfrm>
          <a:prstGeom prst="roundRect">
            <a:avLst>
              <a:gd name="adj" fmla="val 5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76537"/>
            <a:ext cx="3505200" cy="1990725"/>
          </a:xfrm>
          <a:prstGeom prst="roundRect">
            <a:avLst>
              <a:gd name="adj" fmla="val 5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043237"/>
            <a:ext cx="2286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043237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043237"/>
            <a:ext cx="381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Introduction &amp; 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500437"/>
            <a:ext cx="39004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Recruitment Bottlenecks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814762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Manual resume parsing takes recruiters 30+ hours per job posting, delaying hiring cycles significantly.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3500437"/>
            <a:ext cx="39004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Unstructured Skill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814762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Resumes format information inconsistently, leading to missed qualified talent in standard text queries.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3900" y="3500437"/>
            <a:ext cx="38481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DSA-Driven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814762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Empowers job portals with hash-indexing, graph skill mapping, and heap-based real-time candidate search.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57437"/>
            <a:ext cx="10972800" cy="828675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38512"/>
            <a:ext cx="10972800" cy="828675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319587"/>
            <a:ext cx="10972800" cy="828675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0100" y="2547937"/>
            <a:ext cx="533400" cy="447675"/>
          </a:xfrm>
          <a:prstGeom prst="roundRect">
            <a:avLst>
              <a:gd name="adj" fmla="val 1702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0100" y="3529012"/>
            <a:ext cx="571500" cy="447675"/>
          </a:xfrm>
          <a:prstGeom prst="roundRect">
            <a:avLst>
              <a:gd name="adj" fmla="val 1702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0100" y="4510087"/>
            <a:ext cx="571500" cy="447675"/>
          </a:xfrm>
          <a:prstGeom prst="roundRect">
            <a:avLst>
              <a:gd name="adj" fmla="val 1702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Literature Survey &amp; Prior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2662237"/>
            <a:ext cx="2857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3643312"/>
            <a:ext cx="3238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4624387"/>
            <a:ext cx="3238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100" y="2552700"/>
            <a:ext cx="861357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Traditional Keyword Matching 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100" y="2809875"/>
            <a:ext cx="82034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Relies on simple regex matching. High false rejection rate due to lack of semantic understanding.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533775"/>
            <a:ext cx="10591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TF-IDF &amp; Cosine Similarity Engines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790950"/>
            <a:ext cx="102750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Improves term importance weighting but suffers performance degradation on large resume databases without indexing.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514850"/>
            <a:ext cx="1006375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Proposed DSA Hybrid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772025"/>
            <a:ext cx="95845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Plus Jakarta Sans"/>
              </a:rPr>
              <a:t>Combines HashMap skill indexing with Max-Heap sorting for sub-linear retrieval speed and contextual scoring.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04900"/>
            <a:ext cx="4907905" cy="5295900"/>
          </a:xfrm>
          <a:prstGeom prst="roundRect">
            <a:avLst>
              <a:gd name="adj" fmla="val 3105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22305" y="1104900"/>
            <a:ext cx="5760094" cy="5295900"/>
          </a:xfrm>
          <a:prstGeom prst="roundRect">
            <a:avLst>
              <a:gd name="adj" fmla="val 28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385887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005" y="1409700"/>
            <a:ext cx="19050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005" y="4905375"/>
            <a:ext cx="12382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005" y="5200650"/>
            <a:ext cx="12382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005" y="5586412"/>
            <a:ext cx="12382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005" y="5972175"/>
            <a:ext cx="123825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Problem Statement &amp; Key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1771650"/>
            <a:ext cx="445070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7F1D1D"/>
                </a:solidFill>
                <a:latin typeface="Plus Jakarta Sans"/>
              </a:rPr>
              <a:t>Existing recruitment marketplaces lack scalable data structures to instantly parse, match, and rank thousands of resumes against real-time job openings accurately.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9005" y="1371600"/>
            <a:ext cx="6102994" cy="2381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Project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8725" y="1381125"/>
            <a:ext cx="235029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8080" y="4886325"/>
            <a:ext cx="5883919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Skill Indexing: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Build Hash Maps for O(1) skill lookup.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8080" y="5181600"/>
            <a:ext cx="5883919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Similarity Scoring: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Compute match percentage via vector overlap.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8080" y="5476875"/>
            <a:ext cx="5102869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Fast Ranking: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Implement Max-Heap to fetch Top-K candidates in O(K log N).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8080" y="5953125"/>
            <a:ext cx="5883919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Marketplace Portal: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Interactive interface for candidate-job workflow.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43000"/>
            <a:ext cx="5334000" cy="5257800"/>
          </a:xfrm>
          <a:prstGeom prst="roundRect">
            <a:avLst>
              <a:gd name="adj" fmla="val 289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143000"/>
            <a:ext cx="5334000" cy="5257800"/>
          </a:xfrm>
          <a:prstGeom prst="roundRect">
            <a:avLst>
              <a:gd name="adj" fmla="val 289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47800"/>
            <a:ext cx="333375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447800"/>
            <a:ext cx="2667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System Hardware &amp; Software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2075" y="1447800"/>
            <a:ext cx="322540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Software Specifications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5000"/>
            <a:ext cx="5905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Languages: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Python 3.10 / C++20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38375"/>
            <a:ext cx="5905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Libraries: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NumPy, NLTK, Scikit-learn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71750"/>
            <a:ext cx="5905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Framework: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Flask / FastAPI (Marketplace REST APIs)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05125"/>
            <a:ext cx="5905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Database: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SQLite / In-Memory Hash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4200" y="1447800"/>
            <a:ext cx="328791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Hardware Specifications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1905000"/>
            <a:ext cx="5638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Processor: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Intel Core i5 / AMD Ryzen 5 or higher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2238375"/>
            <a:ext cx="5638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RAM: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8 GB Minimum (16 GB Recommended)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2571750"/>
            <a:ext cx="5638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Storage: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512 GB NVMe SSD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2905125"/>
            <a:ext cx="5638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Environment: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64-bit OS (Windows 11 / Linux)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71841" y="1938337"/>
            <a:ext cx="4710558" cy="981075"/>
          </a:xfrm>
          <a:prstGeom prst="roundRect">
            <a:avLst>
              <a:gd name="adj" fmla="val 116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71841" y="3071812"/>
            <a:ext cx="4710558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71841" y="4376737"/>
            <a:ext cx="4710558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90675"/>
            <a:ext cx="5957441" cy="428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743075"/>
            <a:ext cx="5652641" cy="398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Engine Architecture &amp;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62341" y="2128837"/>
            <a:ext cx="4424808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62341" y="3262312"/>
            <a:ext cx="4424808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STAGE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62341" y="4567237"/>
            <a:ext cx="4424808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STAGE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2341" y="2347912"/>
            <a:ext cx="512965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Resume Tokenization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2341" y="2557462"/>
            <a:ext cx="512965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Extract text, clean stop words, convert skills into canonical tags.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2341" y="3481387"/>
            <a:ext cx="512965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Vector Weighting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2341" y="3690937"/>
            <a:ext cx="442480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Compute TF-IDF weights for experience level, mandatory vs optional skills.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2341" y="4786312"/>
            <a:ext cx="512965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Heap Ranking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2341" y="4995862"/>
            <a:ext cx="442480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Push candidate match scores into Max-Heap and stream top matches to recruiters.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066800"/>
            <a:ext cx="5372100" cy="5334000"/>
          </a:xfrm>
          <a:prstGeom prst="roundRect">
            <a:avLst>
              <a:gd name="adj" fmla="val 214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1066800"/>
            <a:ext cx="5372100" cy="5334000"/>
          </a:xfrm>
          <a:prstGeom prst="roundRect">
            <a:avLst>
              <a:gd name="adj" fmla="val 214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Core Modules Implementation (Part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581150"/>
            <a:ext cx="5010150" cy="2043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E2E8F0"/>
                </a:solidFill>
                <a:latin typeface="JetBrains Mono"/>
              </a:rPr>
              <a:t>class SkillIndexer: def __init__(self): self.index = defaultdict(set) def add_candidate(self, cand_id, skills): for skill in skills: # O(1) Average insertion self.index[skill.lower()].add(cand_id) def get_candidates(self, skill): return self.index.get(skill.lower(), set())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5867400"/>
            <a:ext cx="5010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Inverted index strategy enabling instantaneous candidate filtering based on required job skills.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1581150"/>
            <a:ext cx="5010150" cy="1300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E2E8F0"/>
                </a:solidFill>
                <a:latin typeface="JetBrains Mono"/>
              </a:rPr>
              <a:t>def compute_match_score(job_skills, cand_skills): intersection = set(job_skills) &amp; set(cand_skills) if not job_skills: return 0.0 # Weighted Jaccard / Cosine calculation score = (len(intersection) / len(job_skills)) * 100 return round(score,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900" y="5867400"/>
            <a:ext cx="5010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Calculates numerical match percentage between candidate skillset and job post requirements.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295400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MODULE 1: Resume Skill Indexing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86375" y="1304925"/>
            <a:ext cx="7524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HashMap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1295400"/>
            <a:ext cx="25360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MODULE 2: Match Score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87050" y="1304925"/>
            <a:ext cx="952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Cosine Sim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066800"/>
            <a:ext cx="5510212" cy="5334000"/>
          </a:xfrm>
          <a:prstGeom prst="roundRect">
            <a:avLst>
              <a:gd name="adj" fmla="val 214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48412" y="1066800"/>
            <a:ext cx="5233987" cy="5334000"/>
          </a:xfrm>
          <a:prstGeom prst="roundRect">
            <a:avLst>
              <a:gd name="adj" fmla="val 218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Core Modules Implementation (Part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581150"/>
            <a:ext cx="5148262" cy="2414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E2E8F0"/>
                </a:solidFill>
                <a:latin typeface="JetBrains Mono"/>
              </a:rPr>
              <a:t>import heapq class TalentRanker: def get_top_k_candidates(self, candidates_scores, k): # Max Heap stored using negative scores heap = [(-score, c_id) for c_id, score in candidates_scores] heapq.heapify(heap) top_k = [] for _ in range(min(k, len(heap))): score, c_id = heapq.heappop(heap) top_k.append((c_id, -score)) return top_k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019800"/>
            <a:ext cx="514826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Retrieves Top-K matching profiles efficiently without sorting the entire talent database.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7012" y="1581150"/>
            <a:ext cx="4872037" cy="2043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E2E8F0"/>
                </a:solidFill>
                <a:latin typeface="JetBrains Mono"/>
              </a:rPr>
              <a:t>@app.route('/match_job', methods=['POST']) def match_job(): data = request.json job_skills = data.get('required_skills', []) candidate_ids = indexer.query_any(job_skills) scores = [(cid, compute_score(job_skills, get_skills(cid))) for cid in candidate_ids] top_matches = ranker.get_top_k(scores, k=10) return jsonify({"results": top_matches})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7012" y="5867400"/>
            <a:ext cx="48720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Exposes matching algorithms via lightweight web APIs for recruiter platform integration.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295400"/>
            <a:ext cx="3095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MODULE 3: Max-Heap Priority Ranking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7762" y="1304925"/>
            <a:ext cx="1219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Priority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7012" y="1295400"/>
            <a:ext cx="2809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MODULE 4: Talent Marketplace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87025" y="1304925"/>
            <a:ext cx="11525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REST Endpoint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129087"/>
            <a:ext cx="10972800" cy="1181100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195512"/>
            <a:ext cx="3505200" cy="1704975"/>
          </a:xfrm>
          <a:prstGeom prst="roundRect">
            <a:avLst>
              <a:gd name="adj" fmla="val 670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195512"/>
            <a:ext cx="3505200" cy="1704975"/>
          </a:xfrm>
          <a:prstGeom prst="roundRect">
            <a:avLst>
              <a:gd name="adj" fmla="val 670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195512"/>
            <a:ext cx="3505200" cy="1704975"/>
          </a:xfrm>
          <a:prstGeom prst="roundRect">
            <a:avLst>
              <a:gd name="adj" fmla="val 670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Results &amp; Algorithmic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357687"/>
            <a:ext cx="11353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Performance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652962"/>
            <a:ext cx="106108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The empirical benchmark confirms that combining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Inverted Hash Indexing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with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Max-Heap ranking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reduces processing overhead by over 80% compared to brute-force Linear Scan algorithms.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424112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QUERY EXECUTION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671762"/>
            <a:ext cx="38100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284C7"/>
                </a:solidFill>
                <a:latin typeface="Plus Jakarta Sans"/>
              </a:rPr>
              <a:t>12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328987"/>
            <a:ext cx="31432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Average search time across 10,000 resume profiles.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24112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MATCH RELEVANCE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71762"/>
            <a:ext cx="38100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284C7"/>
                </a:solidFill>
                <a:latin typeface="Plus Jakarta Sans"/>
              </a:rPr>
              <a:t>94.2%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28987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Alignment with human recruiter shortlists.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2424112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SPACE 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5800" y="2671762"/>
            <a:ext cx="38100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284C7"/>
                </a:solidFill>
                <a:latin typeface="Plus Jakarta Sans"/>
              </a:rPr>
              <a:t>O(N × 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3328987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Efficient memory usage per candidate skill set.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04900"/>
            <a:ext cx="4888855" cy="5295900"/>
          </a:xfrm>
          <a:prstGeom prst="roundRect">
            <a:avLst>
              <a:gd name="adj" fmla="val 31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03255" y="1104900"/>
            <a:ext cx="5779144" cy="5295900"/>
          </a:xfrm>
          <a:prstGeom prst="roundRect">
            <a:avLst>
              <a:gd name="adj" fmla="val 2877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79480" y="1771650"/>
            <a:ext cx="5226694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79480" y="2438400"/>
            <a:ext cx="5226694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79480" y="3105150"/>
            <a:ext cx="5226694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409700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480" y="1419225"/>
            <a:ext cx="19050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Conclusion &amp; 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1371600"/>
            <a:ext cx="5716534" cy="23812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9480" y="1381125"/>
            <a:ext cx="6112519" cy="2381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Plus Jakarta Sans"/>
              </a:rP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1762125"/>
            <a:ext cx="445070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Successfully developed an automated talent matching system using core DSA principles.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238375"/>
            <a:ext cx="445070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Significantly reduced candidate screening time from hours to milliseconds.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2714625"/>
            <a:ext cx="445070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Eliminated manual human bias through deterministic skill-scoring models.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1880" y="1885950"/>
            <a:ext cx="596011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Near-Term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1880" y="2057400"/>
            <a:ext cx="596011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Integrate Word2Vec BERT embeddings for semantic skill synonym matching.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1880" y="2552700"/>
            <a:ext cx="596011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Medium-Term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1880" y="2724150"/>
            <a:ext cx="596011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Implement Graph Neural Networks (GNN) to construct career progression trees.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1880" y="3219450"/>
            <a:ext cx="596011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Long-Term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1880" y="3390900"/>
            <a:ext cx="596011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Deploy real-time dynamic market bidding for automated recruitment auctions.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10250" y="3852862"/>
            <a:ext cx="5715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76712" y="4224337"/>
            <a:ext cx="3838575" cy="56197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712" y="4443412"/>
            <a:ext cx="180975" cy="142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87" y="4443412"/>
            <a:ext cx="180975" cy="142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80359" y="2071687"/>
            <a:ext cx="2631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Plus Jakarta Sans"/>
              </a:rPr>
              <a:t>END OF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0765" y="2386012"/>
            <a:ext cx="3750468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Plus Jakarta Sans"/>
              </a:rP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6687" y="3243262"/>
            <a:ext cx="4238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94A3B8"/>
                </a:solidFill>
                <a:latin typeface="Plus Jakarta Sans"/>
              </a:rPr>
              <a:t>Questions &amp; Academic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6503" y="4414837"/>
            <a:ext cx="1512093" cy="180975"/>
          </a:xfrm>
          <a:prstGeom prst="rect">
            <a:avLst/>
          </a:prstGeom>
          <a:noFill/>
        </p:spPr>
        <p:txBody>
          <a:bodyPr wrap="none" lIns="257175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8FAFC"/>
                </a:solidFill>
                <a:latin typeface="Plus Jakarta Sans"/>
              </a:rPr>
              <a:t>K L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6925" y="4414837"/>
            <a:ext cx="1952625" cy="180975"/>
          </a:xfrm>
          <a:prstGeom prst="rect">
            <a:avLst/>
          </a:prstGeom>
          <a:noFill/>
        </p:spPr>
        <p:txBody>
          <a:bodyPr wrap="none" lIns="257175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8FAFC"/>
                </a:solidFill>
                <a:latin typeface="Plus Jakarta Sans"/>
              </a:rPr>
              <a:t>DSA-3 Lab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9763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https://www.codica.com/static/05c9277f9d0a983969af291cb34c3d33/168ec/ai_resume_screening_cycle_min_e72e8b4c6f.jpg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8250"/>
            <a:ext cx="2369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www.codica.com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